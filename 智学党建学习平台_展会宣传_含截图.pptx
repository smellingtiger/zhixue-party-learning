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2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C8FF"/>
                </a:solidFill>
                <a:latin typeface="微软雅黑" panose="020B0503020204020204" charset="-122"/>
              </a:defRPr>
            </a:pPr>
            <a:r>
              <a:t>数据驱动  精准赋能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校本大模型全栈解决方案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383280"/>
            <a:ext cx="3959352" cy="274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64B4FF"/>
                </a:solidFill>
                <a:latin typeface="微软雅黑" panose="020B0503020204020204" charset="-122"/>
              </a:defRPr>
            </a:pPr>
            <a:r>
              <a:t>智学党建学习平台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5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69696"/>
                </a:solidFill>
                <a:latin typeface="微软雅黑" panose="020B0503020204020204" charset="-122"/>
              </a:defRPr>
            </a:pPr>
            <a:r>
              <a:t>AI + Education | Data-Driven | Intelligent Empowerment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C8FF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31520" cy="7315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政策导向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C8"/>
                </a:solidFill>
                <a:latin typeface="微软雅黑" panose="020B0503020204020204" charset="-122"/>
              </a:defRPr>
            </a:pPr>
            <a:r>
              <a:t>人工智能+教育已写入国家顶层设计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731520" cy="7315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30632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AI应用需求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C8"/>
                </a:solidFill>
                <a:latin typeface="微软雅黑" panose="020B0503020204020204" charset="-122"/>
              </a:defRPr>
            </a:pPr>
            <a:r>
              <a:t>教师负担重、个性化教学难、AI大模型是关键钥匙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731520" cy="7315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AI精准应用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C8"/>
                </a:solidFill>
                <a:latin typeface="微软雅黑" panose="020B0503020204020204" charset="-122"/>
              </a:defRPr>
            </a:pPr>
            <a:r>
              <a:t>GenAI技术从炫技走向专业，校本垂域模型是基础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C8FF"/>
                </a:solidFill>
                <a:latin typeface="微软雅黑" panose="020B0503020204020204" charset="-122"/>
              </a:defRPr>
            </a:pPr>
            <a:r>
              <a:t>建设价值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868680"/>
            <a:ext cx="1463040" cy="7772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100583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教学数据</a:t>
            </a:r>
            <a:br/>
            <a:r>
              <a:t>与资源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868680"/>
            <a:ext cx="1463040" cy="7772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100583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自动语料</a:t>
            </a:r>
            <a:br/>
            <a:r>
              <a:t>提取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868680"/>
            <a:ext cx="1463040" cy="7772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00583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数据集</a:t>
            </a:r>
            <a:br/>
            <a:r>
              <a:t>构建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868680"/>
            <a:ext cx="1463040" cy="7772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59" y="100583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垂直模型</a:t>
            </a:r>
            <a:br/>
            <a:r>
              <a:t>微调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868680"/>
            <a:ext cx="1463040" cy="7772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100583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AI场景化</a:t>
            </a:r>
            <a:br/>
            <a:r>
              <a:t>应用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868680"/>
            <a:ext cx="1463040" cy="7772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00583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新数据</a:t>
            </a:r>
            <a:br/>
            <a:r>
              <a:t>回流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868680"/>
            <a:ext cx="1463040" cy="77724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100583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模型持续</a:t>
            </a:r>
            <a:br/>
            <a:r>
              <a:t>进化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77724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FF"/>
                </a:solidFill>
                <a:latin typeface="微软雅黑" panose="020B0503020204020204" charset="-122"/>
              </a:defRPr>
            </a:pPr>
            <a:r>
              <a:t>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150876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FF"/>
                </a:solidFill>
                <a:latin typeface="微软雅黑" panose="020B0503020204020204" charset="-122"/>
              </a:defRPr>
            </a:pPr>
            <a:r>
              <a:t>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224028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FF"/>
                </a:solidFill>
                <a:latin typeface="微软雅黑" panose="020B0503020204020204" charset="-122"/>
              </a:defRPr>
            </a:pPr>
            <a:r>
              <a:t>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2971800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FF"/>
                </a:solidFill>
                <a:latin typeface="微软雅黑" panose="020B0503020204020204" charset="-122"/>
              </a:defRPr>
            </a:pPr>
            <a:r>
              <a:t>值</a:t>
            </a:r>
          </a:p>
        </p:txBody>
      </p:sp>
      <p:pic>
        <p:nvPicPr>
          <p:cNvPr id="21" name="Picture 20" descr="home_page-2026-05-22T05-17-10-422Z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0"/>
            <a:ext cx="3703320" cy="23317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11480" y="4142232"/>
            <a:ext cx="3703320" cy="292608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8795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智能体首页</a:t>
            </a:r>
          </a:p>
        </p:txBody>
      </p:sp>
      <p:pic>
        <p:nvPicPr>
          <p:cNvPr id="24" name="Picture 23" descr="library_page-2026-05-22T04-48-26-386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828800"/>
            <a:ext cx="3703320" cy="233172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279392" y="4142232"/>
            <a:ext cx="3703320" cy="292608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1" y="418795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资源汇聚</a:t>
            </a:r>
          </a:p>
        </p:txBody>
      </p:sp>
      <p:pic>
        <p:nvPicPr>
          <p:cNvPr id="27" name="Picture 26" descr="knowledge_base-2026-05-22T04-48-54-931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3" y="1828800"/>
            <a:ext cx="3703320" cy="23317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147303" y="4142232"/>
            <a:ext cx="3703320" cy="292608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3" y="418795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知识库管理</a:t>
            </a:r>
          </a:p>
        </p:txBody>
      </p:sp>
      <p:pic>
        <p:nvPicPr>
          <p:cNvPr id="30" name="Picture 29" descr="ai_course-2026-05-22T04-49-26-708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325112"/>
            <a:ext cx="3703320" cy="233172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11480" y="6638544"/>
            <a:ext cx="3703320" cy="292608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68426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AI助教-课程</a:t>
            </a:r>
          </a:p>
        </p:txBody>
      </p:sp>
      <p:pic>
        <p:nvPicPr>
          <p:cNvPr id="33" name="Picture 32" descr="ai_profile-2026-05-22T04-49-56-538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4325112"/>
            <a:ext cx="3703320" cy="233172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4279392" y="6638544"/>
            <a:ext cx="3703320" cy="292608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668426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AI助学-画像</a:t>
            </a:r>
          </a:p>
        </p:txBody>
      </p:sp>
      <p:pic>
        <p:nvPicPr>
          <p:cNvPr id="36" name="Picture 35" descr="training_candidates-2026-05-22T04-50-31-911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303" y="4325112"/>
            <a:ext cx="3703320" cy="233172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147303" y="6638544"/>
            <a:ext cx="3703320" cy="292608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8743" y="668426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AI助评-培训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FF"/>
                </a:solidFill>
                <a:latin typeface="微软雅黑" panose="020B0503020204020204" charset="-122"/>
              </a:defRPr>
            </a:pPr>
            <a:r>
              <a:t>整体架构 - 产品全景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777240"/>
            <a:ext cx="3474720" cy="173736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L1 基于垂域模型驱动的AI应用智能体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2D2D2"/>
                </a:solidFill>
                <a:latin typeface="微软雅黑" panose="020B0503020204020204" charset="-122"/>
              </a:defRPr>
            </a:pPr>
            <a:r>
              <a:t>三大智能体:</a:t>
            </a:r>
            <a:br/>
            <a:r>
              <a:t>• 助教智能体</a:t>
            </a:r>
            <a:br/>
            <a:r>
              <a:t>• 助学智能体</a:t>
            </a:r>
            <a:br/>
            <a:r>
              <a:t>• 助评智能体</a:t>
            </a:r>
          </a:p>
        </p:txBody>
      </p:sp>
      <p:pic>
        <p:nvPicPr>
          <p:cNvPr id="6" name="Picture 5" descr="ai_course-2026-05-22T04-49-26-708Z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39" y="886968"/>
            <a:ext cx="2697480" cy="1508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749039" y="2221992"/>
            <a:ext cx="2697480" cy="25603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2258568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AI助教</a:t>
            </a:r>
          </a:p>
        </p:txBody>
      </p:sp>
      <p:pic>
        <p:nvPicPr>
          <p:cNvPr id="9" name="Picture 8" descr="ai_profile-2026-05-22T04-49-56-538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886968"/>
            <a:ext cx="2697480" cy="1508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56248" y="2221992"/>
            <a:ext cx="2697480" cy="25603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258568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AI助学</a:t>
            </a:r>
          </a:p>
        </p:txBody>
      </p:sp>
      <p:pic>
        <p:nvPicPr>
          <p:cNvPr id="12" name="Picture 11" descr="training_candidates-2026-05-22T04-50-31-911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886968"/>
            <a:ext cx="2697480" cy="15087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363456" y="2221992"/>
            <a:ext cx="2697480" cy="25603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09176" y="2258568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AI助评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697480"/>
            <a:ext cx="3474720" cy="173736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L2 AI垂域训练平台 | 构建数据集 · 训练垂域模型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2D2D2"/>
                </a:solidFill>
                <a:latin typeface="微软雅黑" panose="020B0503020204020204" charset="-122"/>
              </a:defRPr>
            </a:pPr>
            <a:r>
              <a:t>核心能力:</a:t>
            </a:r>
            <a:br/>
            <a:r>
              <a:t>• 数据集构建</a:t>
            </a:r>
            <a:br/>
            <a:r>
              <a:t>• 模型微调</a:t>
            </a:r>
            <a:br/>
            <a:r>
              <a:t>• 智能体编排</a:t>
            </a:r>
          </a:p>
        </p:txBody>
      </p:sp>
      <p:pic>
        <p:nvPicPr>
          <p:cNvPr id="18" name="Picture 17" descr="knowledge_base-2026-05-22T04-48-54-931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2807208"/>
            <a:ext cx="2697480" cy="15087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749039" y="4142231"/>
            <a:ext cx="2697480" cy="25603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4178807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知识库构建</a:t>
            </a:r>
          </a:p>
        </p:txBody>
      </p:sp>
      <p:pic>
        <p:nvPicPr>
          <p:cNvPr id="21" name="Picture 20" descr="course_learn_detail-2026-05-22T05-19-45-084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807208"/>
            <a:ext cx="2697480" cy="15087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556248" y="4142231"/>
            <a:ext cx="2697480" cy="25603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178807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模型训练</a:t>
            </a:r>
          </a:p>
        </p:txBody>
      </p:sp>
      <p:pic>
        <p:nvPicPr>
          <p:cNvPr id="24" name="Picture 23" descr="notes_page-2026-05-22T05-18-14-719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2807208"/>
            <a:ext cx="2697480" cy="15087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363456" y="4142231"/>
            <a:ext cx="2697480" cy="25603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9176" y="4178807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数据资产标注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617720"/>
            <a:ext cx="3474720" cy="173736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L3 AI多模态资源中心 | 汇聚 · 分析 · 挖掘校内优质数据资产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94959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2D2D2"/>
                </a:solidFill>
                <a:latin typeface="微软雅黑" panose="020B0503020204020204" charset="-122"/>
              </a:defRPr>
            </a:pPr>
            <a:r>
              <a:t>数据资产:</a:t>
            </a:r>
            <a:br/>
            <a:r>
              <a:t>• 多模态资源</a:t>
            </a:r>
            <a:br/>
            <a:r>
              <a:t>• 知识图谱</a:t>
            </a:r>
            <a:br/>
            <a:r>
              <a:t>• 校本数据</a:t>
            </a:r>
          </a:p>
        </p:txBody>
      </p:sp>
      <p:pic>
        <p:nvPicPr>
          <p:cNvPr id="30" name="Picture 29" descr="library_page-2026-05-22T04-48-26-386Z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39" y="4727448"/>
            <a:ext cx="2697480" cy="150876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749039" y="6062471"/>
            <a:ext cx="2697480" cy="25603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59" y="6099047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资源汇聚中心</a:t>
            </a:r>
          </a:p>
        </p:txBody>
      </p:sp>
      <p:pic>
        <p:nvPicPr>
          <p:cNvPr id="33" name="Picture 32" descr="bookshelf_page-2026-05-22T05-18-56-205Z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4727448"/>
            <a:ext cx="2697480" cy="15087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556248" y="6062471"/>
            <a:ext cx="2697480" cy="25603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6099047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书架资源管理</a:t>
            </a:r>
          </a:p>
        </p:txBody>
      </p:sp>
      <p:pic>
        <p:nvPicPr>
          <p:cNvPr id="36" name="Picture 35" descr="profile_page-2026-05-22T05-17-41-747Z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456" y="4727448"/>
            <a:ext cx="2697480" cy="150876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9363456" y="6062471"/>
            <a:ext cx="2697480" cy="25603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09176" y="6099047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个人数据画像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2560320"/>
            <a:ext cx="640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C8FF"/>
                </a:solidFill>
                <a:latin typeface="微软雅黑" panose="020B0503020204020204" charset="-122"/>
              </a:defRPr>
            </a:pPr>
            <a:r>
              <a:t>↻</a:t>
            </a:r>
            <a:br/>
            <a:r>
              <a:t>持</a:t>
            </a:r>
            <a:br/>
            <a:r>
              <a:t>续</a:t>
            </a:r>
            <a:br/>
            <a:r>
              <a:t>优</a:t>
            </a:r>
            <a:br/>
            <a:r>
              <a:t>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方案产品 — 多模态资源中心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96DC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C8"/>
                </a:solidFill>
                <a:latin typeface="微软雅黑" panose="020B0503020204020204" charset="-122"/>
              </a:defRPr>
            </a:pPr>
            <a:r>
              <a:t>本地化部署，资源智能融合让校本数据从沉睡到觉醒！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B4FF"/>
                </a:solidFill>
                <a:latin typeface="微软雅黑" panose="020B0503020204020204" charset="-122"/>
              </a:defRPr>
            </a:pPr>
            <a:r>
              <a:t>校本筑基 · 数智赋能 · 全链贯通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C8FF"/>
                </a:solidFill>
                <a:latin typeface="微软雅黑" panose="020B0503020204020204" charset="-122"/>
              </a:defRPr>
            </a:pPr>
            <a:r>
              <a:t>数字资源汇聚与应用 - 产品实景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2651760" cy="43891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数据采集&amp;存储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79" y="1444752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996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公共数据资源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79" y="1865376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部门数据资源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79" y="2286000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40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群组数据资源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79" y="2706624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个人数据资源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868680"/>
            <a:ext cx="2651760" cy="43891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932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数据治理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444752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4996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数据清洗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1865376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9202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多语种转写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2286000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2340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人像识别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706624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7614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多模态分析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868680"/>
            <a:ext cx="2651760" cy="43891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932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数据服务&amp;应用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1444752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4996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智能云搜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1865376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9202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语音检索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2286000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340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OCR检索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2706624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7614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知识图谱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868680"/>
            <a:ext cx="2651760" cy="43891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932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数据智能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1444752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14996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知识图谱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1865376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19202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大模型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2286000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23408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数字人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400" y="2706624"/>
            <a:ext cx="2377440" cy="34747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27614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AI智能</a:t>
            </a:r>
          </a:p>
        </p:txBody>
      </p:sp>
      <p:pic>
        <p:nvPicPr>
          <p:cNvPr id="43" name="Picture 42" descr="library_page-2026-05-22T04-48-26-386Z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29000"/>
            <a:ext cx="11274552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方案产品 — 垂域智能体创作平台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96DC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C8"/>
                </a:solidFill>
                <a:latin typeface="微软雅黑" panose="020B0503020204020204" charset="-122"/>
              </a:defRPr>
            </a:pPr>
            <a:r>
              <a:t>从数据到应用，一站式垂域模型构建，让教育AI开发零门槛！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B4FF"/>
                </a:solidFill>
                <a:latin typeface="微软雅黑" panose="020B0503020204020204" charset="-122"/>
              </a:defRPr>
            </a:pPr>
            <a:r>
              <a:t>校本筑基 · 数智赋能 · 全链贯通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C8FF"/>
                </a:solidFill>
                <a:latin typeface="微软雅黑" panose="020B0503020204020204" charset="-122"/>
              </a:defRPr>
            </a:pPr>
            <a:r>
              <a:t>快速构建数据集 · 知识库 - 产品实景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2560320" cy="228600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数据集构建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90472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DCDC"/>
                </a:solidFill>
                <a:latin typeface="微软雅黑" panose="020B0503020204020204" charset="-122"/>
              </a:defRPr>
            </a:pPr>
            <a:r>
              <a:t>支持多种格式导入</a:t>
            </a:r>
            <a:br/>
            <a:r>
              <a:t>自动标注与清洗</a:t>
            </a:r>
            <a:br/>
            <a:r>
              <a:t>版本管理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868680"/>
            <a:ext cx="2560320" cy="228600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03327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知识库管理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90472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DCDC"/>
                </a:solidFill>
                <a:latin typeface="微软雅黑" panose="020B0503020204020204" charset="-122"/>
              </a:defRPr>
            </a:pPr>
            <a:r>
              <a:t>文档解析入库</a:t>
            </a:r>
            <a:br/>
            <a:r>
              <a:t>智能分片向量化</a:t>
            </a:r>
            <a:br/>
            <a:r>
              <a:t>语义检索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868680"/>
            <a:ext cx="2560320" cy="228600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03327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模型微调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490472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DCDC"/>
                </a:solidFill>
                <a:latin typeface="微软雅黑" panose="020B0503020204020204" charset="-122"/>
              </a:defRPr>
            </a:pPr>
            <a:r>
              <a:t>可视化参数配置</a:t>
            </a:r>
            <a:br/>
            <a:r>
              <a:t>LoRA高效微调</a:t>
            </a:r>
            <a:br/>
            <a:r>
              <a:t>效果评估对比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868680"/>
            <a:ext cx="2560320" cy="228600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03327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智能体编排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490472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DCDC"/>
                </a:solidFill>
                <a:latin typeface="微软雅黑" panose="020B0503020204020204" charset="-122"/>
              </a:defRPr>
            </a:pPr>
            <a:r>
              <a:t>拖拽式工作流</a:t>
            </a:r>
            <a:br/>
            <a:r>
              <a:t>多工具集成</a:t>
            </a:r>
            <a:br/>
            <a:r>
              <a:t>一键发布部署</a:t>
            </a:r>
          </a:p>
        </p:txBody>
      </p:sp>
      <p:pic>
        <p:nvPicPr>
          <p:cNvPr id="15" name="Picture 14" descr="knowledge_base-2026-05-22T04-48-54-931Z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383280"/>
            <a:ext cx="1127455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方案产品 — 智能体应用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1371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96DC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C8C8"/>
                </a:solidFill>
                <a:latin typeface="微软雅黑" panose="020B0503020204020204" charset="-122"/>
              </a:defRPr>
            </a:pPr>
            <a:r>
              <a:t>从千人一面到千人千面——让AI成为师生的超级助手！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B4FF"/>
                </a:solidFill>
                <a:latin typeface="微软雅黑" panose="020B0503020204020204" charset="-122"/>
              </a:defRPr>
            </a:pPr>
            <a:r>
              <a:t>校本筑基 · 数智赋能 · 全链贯通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FF"/>
                </a:solidFill>
                <a:latin typeface="微软雅黑" panose="020B0503020204020204" charset="-122"/>
              </a:defRPr>
            </a:pPr>
            <a:r>
              <a:t>智能体广场 - 三大智能体应用展示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49808"/>
            <a:ext cx="3657600" cy="43891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助教智能体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79" y="1325880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990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共筑AI课堂互动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79" y="1810512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智能备课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79" y="2295144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6829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教学设计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79" y="2779776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5292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课件生成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749808"/>
            <a:ext cx="3657600" cy="43891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822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助学智能体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990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个性化学习路径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810512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88366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智能答疑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2295144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36829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学习诊断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779776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85292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知识图谱导航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749808"/>
            <a:ext cx="3657600" cy="438912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9" y="822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助评智能体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325880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3990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过程性评价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810512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88366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智能批改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295144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36829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学情分析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2779776"/>
            <a:ext cx="3383280" cy="4114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85292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微软雅黑" panose="020B0503020204020204" charset="-122"/>
              </a:defRPr>
            </a:pPr>
            <a:r>
              <a:t>● 成长档案</a:t>
            </a:r>
          </a:p>
        </p:txBody>
      </p:sp>
      <p:pic>
        <p:nvPicPr>
          <p:cNvPr id="33" name="Picture 32" descr="ai_course-2026-05-22T04-49-26-708Z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520440"/>
            <a:ext cx="3730752" cy="28803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84048" y="6382512"/>
            <a:ext cx="3730752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641908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课程学习</a:t>
            </a:r>
          </a:p>
        </p:txBody>
      </p:sp>
      <p:pic>
        <p:nvPicPr>
          <p:cNvPr id="36" name="Picture 35" descr="ai_profile-2026-05-22T04-49-56-538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3520440"/>
            <a:ext cx="3730752" cy="288036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279392" y="6382512"/>
            <a:ext cx="3730752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5112" y="641908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个人画像</a:t>
            </a:r>
          </a:p>
        </p:txBody>
      </p:sp>
      <p:pic>
        <p:nvPicPr>
          <p:cNvPr id="39" name="Picture 38" descr="training_candidates-2026-05-22T04-50-31-911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3520440"/>
            <a:ext cx="3730752" cy="288036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174736" y="6382512"/>
            <a:ext cx="3730752" cy="27432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6" y="641908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培训评价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微软雅黑" panose="020B0503020204020204" charset="-122"/>
              </a:defRPr>
            </a:pPr>
            <a:r>
              <a:t>核心优势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94960" cy="20116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数据安全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D2D2"/>
                </a:solidFill>
                <a:latin typeface="微软雅黑" panose="020B0503020204020204" charset="-122"/>
              </a:defRPr>
            </a:pPr>
            <a:r>
              <a:t>本地化部署，数据不出校</a:t>
            </a:r>
            <a:br/>
            <a:r>
              <a:t>满足教育行业合规要求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5394960" cy="20116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垂域专业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D2D2"/>
                </a:solidFill>
                <a:latin typeface="微软雅黑" panose="020B0503020204020204" charset="-122"/>
              </a:defRPr>
            </a:pPr>
            <a:r>
              <a:t>针对教育场景深度优化</a:t>
            </a:r>
            <a:br/>
            <a:r>
              <a:t>模型更懂教学需求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5394960" cy="20116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零代码开发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D2D2"/>
                </a:solidFill>
                <a:latin typeface="微软雅黑" panose="020B0503020204020204" charset="-122"/>
              </a:defRPr>
            </a:pPr>
            <a:r>
              <a:t>可视化操作界面</a:t>
            </a:r>
            <a:br/>
            <a:r>
              <a:t>无需编程即可创建智能体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474720"/>
            <a:ext cx="5394960" cy="2011680"/>
          </a:xfrm>
          <a:prstGeom prst="round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3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CFF"/>
                </a:solidFill>
                <a:latin typeface="微软雅黑" panose="020B0503020204020204" charset="-122"/>
              </a:defRPr>
            </a:pPr>
            <a:r>
              <a:t>持续进化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D2D2"/>
                </a:solidFill>
                <a:latin typeface="微软雅黑" panose="020B0503020204020204" charset="-122"/>
              </a:defRPr>
            </a:pPr>
            <a:r>
              <a:t>数据回流机制</a:t>
            </a:r>
            <a:br/>
            <a:r>
              <a:t>模型能力不断优化提升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C8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69696"/>
                </a:solidFill>
                <a:latin typeface="微软雅黑" panose="020B0503020204020204" charset="-122"/>
              </a:defRPr>
            </a:pPr>
            <a:r>
              <a:t>THANK YOU FOR YOUR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206240"/>
            <a:ext cx="3959352" cy="274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B4FF"/>
                </a:solidFill>
                <a:latin typeface="微软雅黑" panose="020B0503020204020204" charset="-122"/>
              </a:defRPr>
            </a:pPr>
            <a:r>
              <a:t>数据驱动 · 精准赋能 · 智慧教育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7878"/>
                </a:solidFill>
                <a:latin typeface="微软雅黑" panose="020B0503020204020204" charset="-122"/>
              </a:defRPr>
            </a:pPr>
            <a:r>
              <a:t>智学党建学习平台 | 校本大模型全栈解决方案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1195</Words>
  <Application>WPS 演示</Application>
  <PresentationFormat>On-screen Show (4:3)</PresentationFormat>
  <Paragraphs>240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Liti$pino#</cp:lastModifiedBy>
  <cp:revision>2</cp:revision>
  <dcterms:created xsi:type="dcterms:W3CDTF">2013-01-27T09:14:00Z</dcterms:created>
  <dcterms:modified xsi:type="dcterms:W3CDTF">2026-05-22T05:42:43Z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26636325CC534808A4832CF68627A058_12</vt:lpwstr>
  </property>
</Properties>
</file>